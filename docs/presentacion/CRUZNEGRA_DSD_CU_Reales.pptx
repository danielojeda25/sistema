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920240"/>
            <a:ext cx="1218895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CRUZNEGRA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0" y="2926080"/>
            <a:ext cx="121889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B8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DSD y Casos de Uso Reales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0" y="365760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Sistema de Gestión Interna · Laravel 12 · Capturas de septiembre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DSD 1 · El PM crea un proyecto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Diseño detallado del caso de uso (PlantUML, generado desde el código real)</a:t>
            </a:r>
            <a:endParaRPr lang="en-US" sz="1300" dirty="0"/>
          </a:p>
        </p:txBody>
      </p:sp>
      <p:pic>
        <p:nvPicPr>
          <p:cNvPr id="4" name="Image 0" descr="C:\laragon\www\sistema\docs\dsd\png-hd\01_pm_crea_proyec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82461" y="1051560"/>
            <a:ext cx="7424030" cy="46634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create() carga clientes y usuarios · store(req) valida los datos · Proyecto::create(data) persiste y redirige con mensaje success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DSD 2 · El Programador consulta tareas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Diseño detallado del caso de uso (PlantUML, generado desde el código real)</a:t>
            </a:r>
            <a:endParaRPr lang="en-US" sz="1300" dirty="0"/>
          </a:p>
        </p:txBody>
      </p:sp>
      <p:pic>
        <p:nvPicPr>
          <p:cNvPr id="4" name="Image 0" descr="C:\laragon\www\sistema\docs\dsd\png-hd\02_programador_ve_tare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61546" y="1051560"/>
            <a:ext cx="4865860" cy="46634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index() con visiblePara, filtros y paginación (15) · show(t) por Route Model Binding · 403 si puedeVer falla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DSD 3 · Edición de tarea desde el tablero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Diseño detallado del caso de uso (PlantUML, generado desde el código real)</a:t>
            </a:r>
            <a:endParaRPr lang="en-US" sz="1300" dirty="0"/>
          </a:p>
        </p:txBody>
      </p:sp>
      <p:pic>
        <p:nvPicPr>
          <p:cNvPr id="4" name="Image 0" descr="C:\laragon\www\sistema\docs\dsd\png-hd\03_edita_tarea_tabl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94538" y="1051560"/>
            <a:ext cx="6199877" cy="46634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PATCH AJAX con JSON · 422 con errores / 200 con la tarea · el JS mueve la tarjeta sin recargar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DSD 4 · El PM elimina una tarea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Diseño detallado del caso de uso (PlantUML, generado desde el código real)</a:t>
            </a:r>
            <a:endParaRPr lang="en-US" sz="1300" dirty="0"/>
          </a:p>
        </p:txBody>
      </p:sp>
      <p:pic>
        <p:nvPicPr>
          <p:cNvPr id="4" name="Image 0" descr="C:\laragon\www\sistema\docs\dsd\png-hd\04_pm_elimina_tare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1001" y="1051560"/>
            <a:ext cx="8546951" cy="46634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DELETE AJAX · confirmación con modal propio · 200 {ok:true} y la tarjeta desaparece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DSD 5 · El Jefe aprueba una solicitud de cambio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Diseño detallado del caso de uso (PlantUML, generado desde el código real)</a:t>
            </a:r>
            <a:endParaRPr lang="en-US" sz="1300" dirty="0"/>
          </a:p>
        </p:txBody>
      </p:sp>
      <p:pic>
        <p:nvPicPr>
          <p:cNvPr id="4" name="Image 0" descr="C:\laragon\www\sistema\docs\dsd\png-hd\05_jefe_aprueba_solicitu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14371" y="1051560"/>
            <a:ext cx="6960209" cy="46634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update(req, s) fija estado = aprobada · enum pendiente | aprobada | rechazada · redirect con success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DSD 6 · El PO gestiona los entregables IA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Diseño detallado del caso de uso (PlantUML, generado desde el código real)</a:t>
            </a:r>
            <a:endParaRPr lang="en-US" sz="1300" dirty="0"/>
          </a:p>
        </p:txBody>
      </p:sp>
      <p:pic>
        <p:nvPicPr>
          <p:cNvPr id="4" name="Image 0" descr="C:\laragon\www\sistema\docs\dsd\png-hd\06_po_gestiona_entregab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82435" y="1051560"/>
            <a:ext cx="5824081" cy="46634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update(req, e) acepta borrador | revisado | aprobado · redirect al listado con success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743200"/>
            <a:ext cx="121889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Casos de uso reales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0" y="356616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B8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 mismos CU ejecutados en la web real: una lámina por paso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 Real 1 · El PM crea un proyecto  ·  paso 1 de 4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Ejecución real en la web del sistema</a:t>
            </a:r>
            <a:endParaRPr lang="en-US" sz="1300" dirty="0"/>
          </a:p>
        </p:txBody>
      </p:sp>
      <p:pic>
        <p:nvPicPr>
          <p:cNvPr id="4" name="Image 0" descr="C:\laragon\www\sistema\docs\cu-reales\capturas\cu1_paso1_lista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78252" y="1051560"/>
            <a:ext cx="6632448" cy="46634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Figura 1. </a:t>
            </a:r>
            <a:pPr algn="l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Presiona «+ Nuevo Proyecto» en el listado; el controller ejecuta create() y carga la lista de clientes y usuarios para los desplegables.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 Real 1 · El PM crea un proyecto  ·  paso 2 de 4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Ejecución real en la web del sistema</a:t>
            </a:r>
            <a:endParaRPr lang="en-US" sz="1300" dirty="0"/>
          </a:p>
        </p:txBody>
      </p:sp>
      <p:pic>
        <p:nvPicPr>
          <p:cNvPr id="4" name="Image 0" descr="C:\laragon\www\sistema\docs\cu-reales\capturas\cu1_paso2_mod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78252" y="1051560"/>
            <a:ext cx="6632448" cy="46634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Figura 2. </a:t>
            </a:r>
            <a:pPr algn="l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Observa el modal de creación «Nuevo Proyecto», que reemplaza a la página de formulario aparte.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 Real 1 · El PM crea un proyecto  ·  paso 3 de 4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Ejecución real en la web del sistema</a:t>
            </a:r>
            <a:endParaRPr lang="en-US" sz="1300" dirty="0"/>
          </a:p>
        </p:txBody>
      </p:sp>
      <p:pic>
        <p:nvPicPr>
          <p:cNvPr id="4" name="Image 0" descr="C:\laragon\www\sistema\docs\cu-reales\capturas\cu1_paso3_comple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78252" y="1051560"/>
            <a:ext cx="6632448" cy="46634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Figura 3. </a:t>
            </a:r>
            <a:pPr algn="l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Completa nombre, descripción, fechas, cliente y Project Manager, y envía el formulario; store(req) valida el array de datos.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 Real 1 · El PM crea un proyecto  ·  paso 4 de 4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Ejecución real en la web del sistema</a:t>
            </a:r>
            <a:endParaRPr lang="en-US" sz="1300" dirty="0"/>
          </a:p>
        </p:txBody>
      </p:sp>
      <p:pic>
        <p:nvPicPr>
          <p:cNvPr id="4" name="Image 0" descr="C:\laragon\www\sistema\docs\cu-reales\capturas\cu1_paso4_guarda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78252" y="1051560"/>
            <a:ext cx="6632448" cy="46634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Figura 4. </a:t>
            </a:r>
            <a:pPr algn="l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 el mensaje «Proyecto creado correctamente.»: la validación pasó, Proyecto::create(data) guardó el registro y redirigió al listado.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 Real 2 · El Programador consulta las tareas  ·  paso 1 de 3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Ejecución real en la web del sistema</a:t>
            </a:r>
            <a:endParaRPr lang="en-US" sz="1300" dirty="0"/>
          </a:p>
        </p:txBody>
      </p:sp>
      <p:pic>
        <p:nvPicPr>
          <p:cNvPr id="4" name="Image 0" descr="C:\laragon\www\sistema\docs\cu-reales\capturas\cu2_paso1_lista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78252" y="1051560"/>
            <a:ext cx="6632448" cy="46634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Figura 5. </a:t>
            </a:r>
            <a:pPr algn="l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Abre el listado de tareas: index() trae las tareas con sus relaciones proyecto y asignado; el Programador solo tiene acción de lectura.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 Real 2 · El Programador consulta las tareas  ·  paso 2 de 3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Ejecución real en la web del sistema</a:t>
            </a:r>
            <a:endParaRPr lang="en-US" sz="1300" dirty="0"/>
          </a:p>
        </p:txBody>
      </p:sp>
      <p:pic>
        <p:nvPicPr>
          <p:cNvPr id="4" name="Image 0" descr="C:\laragon\www\sistema\docs\cu-reales\capturas\cu2_paso2_filt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78252" y="1051560"/>
            <a:ext cx="6632448" cy="46634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Figura 6. </a:t>
            </a:r>
            <a:pPr algn="l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Aplica el filtro de estado «Pendiente»: la consulta when(estado) actúa sobre el scope visiblePara, con paginación de 15.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 Real 2 · El Programador consulta las tareas  ·  paso 3 de 3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Ejecución real en la web del sistema</a:t>
            </a:r>
            <a:endParaRPr lang="en-US" sz="1300" dirty="0"/>
          </a:p>
        </p:txBody>
      </p:sp>
      <p:pic>
        <p:nvPicPr>
          <p:cNvPr id="4" name="Image 0" descr="C:\laragon\www\sistema\docs\cu-reales\capturas\cu2_paso3_detal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78252" y="1051560"/>
            <a:ext cx="6632448" cy="46634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Figura 7. </a:t>
            </a:r>
            <a:pPr algn="l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Abre el detalle con show(t): Route Model Binding y carga de proyecto, asignado y solicitud de cambio.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 Real 3 · Edición de tarea desde el tablero  ·  paso 1 de 3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Ejecución real en la web del sistema</a:t>
            </a:r>
            <a:endParaRPr lang="en-US" sz="1300" dirty="0"/>
          </a:p>
        </p:txBody>
      </p:sp>
      <p:pic>
        <p:nvPicPr>
          <p:cNvPr id="4" name="Image 0" descr="C:\laragon\www\sistema\docs\cu-reales\capturas\cu3_paso1_mod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78252" y="1051560"/>
            <a:ext cx="6632448" cy="46634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Figura 8. </a:t>
            </a:r>
            <a:pPr algn="l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Abre la tarjeta de la tarea en el tablero; el modal «Editar tarea» toma los datos del atributo data-tarea (JSON).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 Real 3 · Edición de tarea desde el tablero  ·  paso 2 de 3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Ejecución real en la web del sistema</a:t>
            </a:r>
            <a:endParaRPr lang="en-US" sz="1300" dirty="0"/>
          </a:p>
        </p:txBody>
      </p:sp>
      <p:pic>
        <p:nvPicPr>
          <p:cNvPr id="4" name="Image 0" descr="C:\laragon\www\sistema\docs\cu-reales\capturas\cu3_paso2_esta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78252" y="1051560"/>
            <a:ext cx="6632448" cy="46634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Figura 9. </a:t>
            </a:r>
            <a:pPr algn="l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Cambia el estado a «En progreso» y envía PATCH /tareas/{id} con JSON (Accept: application/json).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 Real 3 · Edición de tarea desde el tablero  ·  paso 3 de 3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Ejecución real en la web del sistema</a:t>
            </a:r>
            <a:endParaRPr lang="en-US" sz="1300" dirty="0"/>
          </a:p>
        </p:txBody>
      </p:sp>
      <p:pic>
        <p:nvPicPr>
          <p:cNvPr id="4" name="Image 0" descr="C:\laragon\www\sistema\docs\cu-reales\capturas\cu3_paso3_movi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78252" y="1051560"/>
            <a:ext cx="6632448" cy="46634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Figura 10. </a:t>
            </a:r>
            <a:pPr algn="l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Recibe la respuesta 200 con la tarea y sus relaciones: el JS la mueve a la columna En progreso sin recargar la página.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 Real 4 · El PM elimina una tarea  ·  paso 1 de 4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Ejecución real en la web del sistema</a:t>
            </a:r>
            <a:endParaRPr lang="en-US" sz="1300" dirty="0"/>
          </a:p>
        </p:txBody>
      </p:sp>
      <p:pic>
        <p:nvPicPr>
          <p:cNvPr id="4" name="Image 0" descr="C:\laragon\www\sistema\docs\cu-reales\capturas\cu4_paso1_tabl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78252" y="1051560"/>
            <a:ext cx="6632448" cy="46634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Figura 11. </a:t>
            </a:r>
            <a:pPr algn="l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Abre la tarjeta a eliminar en el tablero de tareas.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 Real 4 · El PM elimina una tarea  ·  paso 2 de 4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Ejecución real en la web del sistema</a:t>
            </a:r>
            <a:endParaRPr lang="en-US" sz="1300" dirty="0"/>
          </a:p>
        </p:txBody>
      </p:sp>
      <p:pic>
        <p:nvPicPr>
          <p:cNvPr id="4" name="Image 0" descr="C:\laragon\www\sistema\docs\cu-reales\capturas\cu4_paso2_mod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78252" y="1051560"/>
            <a:ext cx="6632448" cy="46634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Figura 12. </a:t>
            </a:r>
            <a:pPr algn="l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Pulsa «Eliminar» dentro del modal de edición: dispara DELETE /tareas/{id} por AJAX.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 Real 4 · El PM elimina una tarea  ·  paso 3 de 4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Ejecución real en la web del sistema</a:t>
            </a:r>
            <a:endParaRPr lang="en-US" sz="1300" dirty="0"/>
          </a:p>
        </p:txBody>
      </p:sp>
      <p:pic>
        <p:nvPicPr>
          <p:cNvPr id="4" name="Image 0" descr="C:\laragon\www\sistema\docs\cu-reales\capturas\cu4_paso3_confirm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78252" y="1051560"/>
            <a:ext cx="6632448" cy="46634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Figura 13. </a:t>
            </a:r>
            <a:pPr algn="l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Confirma en el modal propio del sistema, no en el confirm() nativo del navegador.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 Real 4 · El PM elimina una tarea  ·  paso 4 de 4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Ejecución real en la web del sistema</a:t>
            </a:r>
            <a:endParaRPr lang="en-US" sz="1300" dirty="0"/>
          </a:p>
        </p:txBody>
      </p:sp>
      <p:pic>
        <p:nvPicPr>
          <p:cNvPr id="4" name="Image 0" descr="C:\laragon\www\sistema\docs\cu-reales\capturas\cu4_paso4_elimina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78252" y="1051560"/>
            <a:ext cx="6632448" cy="46634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Figura 14. </a:t>
            </a:r>
            <a:pPr algn="l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 la respuesta 200 {ok:true}: la tarjeta desaparece del tablero y el contador baja sin recargar.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 Real 5 · El Jefe aprueba una solicitud de cambio  ·  paso 1 de 3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Ejecución real en la web del sistema</a:t>
            </a:r>
            <a:endParaRPr lang="en-US" sz="1300" dirty="0"/>
          </a:p>
        </p:txBody>
      </p:sp>
      <p:pic>
        <p:nvPicPr>
          <p:cNvPr id="4" name="Image 0" descr="C:\laragon\www\sistema\docs\cu-reales\capturas\cu5_paso1_lista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78252" y="1051560"/>
            <a:ext cx="6632448" cy="46634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Figura 15. </a:t>
            </a:r>
            <a:pPr algn="l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Revisa el listado de solicitudes de cambio con su proyecto, solicitante, estado y prioridad.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 Real 5 · El Jefe aprueba una solicitud de cambio  ·  paso 2 de 3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Ejecución real en la web del sistema</a:t>
            </a:r>
            <a:endParaRPr lang="en-US" sz="1300" dirty="0"/>
          </a:p>
        </p:txBody>
      </p:sp>
      <p:pic>
        <p:nvPicPr>
          <p:cNvPr id="4" name="Image 0" descr="C:\laragon\www\sistema\docs\cu-reales\capturas\cu5_paso2_aproba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78252" y="1051560"/>
            <a:ext cx="6632448" cy="46634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Figura 16. </a:t>
            </a:r>
            <a:pPr algn="l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Abre la edición en el modal y fija estado = «aprobada» (enum: pendiente | aprobada | rechazada).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 Real 5 · El Jefe aprueba una solicitud de cambio  ·  paso 3 de 3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Ejecución real en la web del sistema</a:t>
            </a:r>
            <a:endParaRPr lang="en-US" sz="1300" dirty="0"/>
          </a:p>
        </p:txBody>
      </p:sp>
      <p:pic>
        <p:nvPicPr>
          <p:cNvPr id="4" name="Image 0" descr="C:\laragon\www\sistema\docs\cu-reales\capturas\cu5_paso3_guarda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78252" y="1051560"/>
            <a:ext cx="6632448" cy="46634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Figura 17. </a:t>
            </a:r>
            <a:pPr algn="l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Guarda: update(req, s) con fill(data) + save() redirige al listado con mensaje de éxito y la fila pasa a Aprobada.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 Real 6 · El PO gestiona los entregables IA  ·  paso 1 de 3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Ejecución real en la web del sistema</a:t>
            </a:r>
            <a:endParaRPr lang="en-US" sz="1300" dirty="0"/>
          </a:p>
        </p:txBody>
      </p:sp>
      <p:pic>
        <p:nvPicPr>
          <p:cNvPr id="4" name="Image 0" descr="C:\laragon\www\sistema\docs\cu-reales\capturas\cu6_paso1_lista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78252" y="1051560"/>
            <a:ext cx="6632448" cy="46634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Figura 18. </a:t>
            </a:r>
            <a:pPr algn="l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Abre el listado de entregables IA con su proyecto, tipo, estado y generador.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 Real 6 · El PO gestiona los entregables IA  ·  paso 2 de 3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Ejecución real en la web del sistema</a:t>
            </a:r>
            <a:endParaRPr lang="en-US" sz="1300" dirty="0"/>
          </a:p>
        </p:txBody>
      </p:sp>
      <p:pic>
        <p:nvPicPr>
          <p:cNvPr id="4" name="Image 0" descr="C:\laragon\www\sistema\docs\cu-reales\capturas\cu6_paso2_aproba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78252" y="1051560"/>
            <a:ext cx="6632448" cy="46634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Figura 19. </a:t>
            </a:r>
            <a:pPr algn="l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Abre el modal de edición; el estado solo admite borrador, revisado o aprobado; fija «Aprobado».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 Real 6 · El PO gestiona los entregables IA  ·  paso 3 de 3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Ejecución real en la web del sistema</a:t>
            </a:r>
            <a:endParaRPr lang="en-US" sz="1300" dirty="0"/>
          </a:p>
        </p:txBody>
      </p:sp>
      <p:pic>
        <p:nvPicPr>
          <p:cNvPr id="4" name="Image 0" descr="C:\laragon\www\sistema\docs\cu-reales\capturas\cu6_paso3_guarda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78252" y="1051560"/>
            <a:ext cx="6632448" cy="46634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Figura 20. </a:t>
            </a:r>
            <a:pPr algn="l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Guarda: el listado muestra «Borrador de manual de usuario» como Aprobado.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743200"/>
            <a:ext cx="121889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Gracias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0" y="365760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github.com/DanielOjeda25/sistema · localhost:8000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CRUZNEGRA — DSD y Casos de Uso Reales</dc:title>
  <dc:subject>PptxGenJS Presentation</dc:subject>
  <dc:creator>Equipo CRUZNEGRA</dc:creator>
  <cp:lastModifiedBy>Equipo CRUZNEGRA</cp:lastModifiedBy>
  <cp:revision>1</cp:revision>
  <dcterms:created xsi:type="dcterms:W3CDTF">2026-09-14T22:41:23Z</dcterms:created>
  <dcterms:modified xsi:type="dcterms:W3CDTF">2026-09-14T22:41:23Z</dcterms:modified>
</cp:coreProperties>
</file>