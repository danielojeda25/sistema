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0" y="1920240"/>
            <a:ext cx="12188952" cy="1005840"/>
          </a:xfrm>
          <a:prstGeom prst="rect">
            <a:avLst/>
          </a:prstGeom>
          <a:noFill/>
          <a:ln/>
        </p:spPr>
        <p:txBody>
          <a:bodyPr wrap="square" rtlCol="0" anchor="ctr"/>
          <a:lstStyle/>
          <a:p>
            <a:pPr algn="ctr" indent="0" marL="0">
              <a:buNone/>
            </a:pPr>
            <a:r>
              <a:rPr lang="en-US" sz="6000" b="1" dirty="0">
                <a:solidFill>
                  <a:srgbClr val="FFFFFF"/>
                </a:solidFill>
                <a:latin typeface="Segoe UI" pitchFamily="34" charset="0"/>
                <a:ea typeface="Segoe UI" pitchFamily="34" charset="-122"/>
                <a:cs typeface="Segoe UI" pitchFamily="34" charset="-120"/>
              </a:rPr>
              <a:t>CRUZNEGRA</a:t>
            </a:r>
            <a:endParaRPr lang="en-US" sz="6000" dirty="0"/>
          </a:p>
        </p:txBody>
      </p:sp>
      <p:sp>
        <p:nvSpPr>
          <p:cNvPr id="3" name="Text 1"/>
          <p:cNvSpPr/>
          <p:nvPr/>
        </p:nvSpPr>
        <p:spPr>
          <a:xfrm>
            <a:off x="0" y="2926080"/>
            <a:ext cx="12188952" cy="640080"/>
          </a:xfrm>
          <a:prstGeom prst="rect">
            <a:avLst/>
          </a:prstGeom>
          <a:noFill/>
          <a:ln/>
        </p:spPr>
        <p:txBody>
          <a:bodyPr wrap="square" rtlCol="0" anchor="ctr"/>
          <a:lstStyle/>
          <a:p>
            <a:pPr algn="ctr" indent="0" marL="0">
              <a:buNone/>
            </a:pPr>
            <a:r>
              <a:rPr lang="en-US" sz="2800" dirty="0">
                <a:solidFill>
                  <a:srgbClr val="00B87D"/>
                </a:solidFill>
                <a:latin typeface="Segoe UI" pitchFamily="34" charset="0"/>
                <a:ea typeface="Segoe UI" pitchFamily="34" charset="-122"/>
                <a:cs typeface="Segoe UI" pitchFamily="34" charset="-120"/>
              </a:rPr>
              <a:t>DSD y Casos de Uso Reales</a:t>
            </a:r>
            <a:endParaRPr lang="en-US" sz="2800" dirty="0"/>
          </a:p>
        </p:txBody>
      </p:sp>
      <p:sp>
        <p:nvSpPr>
          <p:cNvPr id="4" name="Text 2"/>
          <p:cNvSpPr/>
          <p:nvPr/>
        </p:nvSpPr>
        <p:spPr>
          <a:xfrm>
            <a:off x="0" y="3657600"/>
            <a:ext cx="12188952" cy="457200"/>
          </a:xfrm>
          <a:prstGeom prst="rect">
            <a:avLst/>
          </a:prstGeom>
          <a:noFill/>
          <a:ln/>
        </p:spPr>
        <p:txBody>
          <a:bodyPr wrap="square" rtlCol="0" anchor="ctr"/>
          <a:lstStyle/>
          <a:p>
            <a:pPr algn="ctr" indent="0" marL="0">
              <a:buNone/>
            </a:pPr>
            <a:r>
              <a:rPr lang="en-US" sz="1500" dirty="0">
                <a:solidFill>
                  <a:srgbClr val="94A3B8"/>
                </a:solidFill>
                <a:latin typeface="Segoe UI" pitchFamily="34" charset="0"/>
                <a:ea typeface="Segoe UI" pitchFamily="34" charset="-122"/>
                <a:cs typeface="Segoe UI" pitchFamily="34" charset="-120"/>
              </a:rPr>
              <a:t>Sistema de Gestión Interna · Laravel 12 · Capturas de septiembre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DSD 1 · El PM crea un proyecto</a:t>
            </a:r>
            <a:endParaRPr lang="en-US" sz="2400" dirty="0"/>
          </a:p>
        </p:txBody>
      </p:sp>
      <p:pic>
        <p:nvPicPr>
          <p:cNvPr id="3" name="Image 0" descr="C:\laragon\www\sistema\docs\dsd\png-hd\01_pm_crea_proyecto.png">    </p:cNvPr>
          <p:cNvPicPr>
            <a:picLocks noChangeAspect="1"/>
          </p:cNvPicPr>
          <p:nvPr/>
        </p:nvPicPr>
        <p:blipFill>
          <a:blip r:embed="rId1"/>
          <a:stretch>
            <a:fillRect/>
          </a:stretch>
        </p:blipFill>
        <p:spPr>
          <a:xfrm>
            <a:off x="3073915" y="777240"/>
            <a:ext cx="6041122" cy="3794760"/>
          </a:xfrm>
          <a:prstGeom prst="rect">
            <a:avLst/>
          </a:prstGeom>
        </p:spPr>
      </p:pic>
      <p:sp>
        <p:nvSpPr>
          <p:cNvPr id="4" name="Text 1"/>
          <p:cNvSpPr/>
          <p:nvPr/>
        </p:nvSpPr>
        <p:spPr>
          <a:xfrm>
            <a:off x="548640" y="4709160"/>
            <a:ext cx="11091672" cy="1417320"/>
          </a:xfrm>
          <a:prstGeom prst="rect">
            <a:avLst/>
          </a:prstGeom>
          <a:noFill/>
          <a:ln/>
        </p:spPr>
        <p:txBody>
          <a:bodyPr wrap="square" lIns="0" tIns="0" rIns="0" bIns="0" rtlCol="0" anchor="t"/>
          <a:lstStyle/>
          <a:p>
            <a:pPr algn="l" indent="0" marL="0">
              <a:lnSpc>
                <a:spcPct val="115000"/>
              </a:lnSpc>
              <a:buNone/>
            </a:pPr>
            <a:r>
              <a:rPr lang="en-US" sz="1350" b="1" dirty="0">
                <a:solidFill>
                  <a:srgbClr val="4F46E5"/>
                </a:solidFill>
                <a:latin typeface="Segoe UI" pitchFamily="34" charset="0"/>
                <a:ea typeface="Segoe UI" pitchFamily="34" charset="-122"/>
                <a:cs typeface="Segoe UI" pitchFamily="34" charset="-120"/>
              </a:rPr>
              <a:t>Qué representa: </a:t>
            </a:r>
            <a:pPr algn="l" indent="0" marL="0">
              <a:lnSpc>
                <a:spcPct val="115000"/>
              </a:lnSpc>
              <a:buNone/>
            </a:pPr>
            <a:r>
              <a:rPr lang="en-US" sz="1350" dirty="0">
                <a:solidFill>
                  <a:srgbClr val="1F2937"/>
                </a:solidFill>
                <a:latin typeface="Segoe UI" pitchFamily="34" charset="0"/>
                <a:ea typeface="Segoe UI" pitchFamily="34" charset="-122"/>
                <a:cs typeface="Segoe UI" pitchFamily="34" charset="-120"/>
              </a:rPr>
              <a:t>El PM abre el formulario de creación y el sistema prepara los desplegables: la lista de clientes y la de usuarios que pueden actuar como Project Manager (mensajes create() y las consultas a Cliente y User). Al enviar el formulario, el controller valida los datos (nombre, fechas, estado, cliente y PM obligatorios). Si algo falla, vuelve al formulario mostrando los errores; si está todo correcto, crea el proyecto, lo guarda en la base de datos y vuelve al listado con el mensaje «Proyecto creado correctamente.»</a:t>
            </a:r>
            <a:endParaRPr lang="en-US" sz="1350" dirty="0"/>
          </a:p>
        </p:txBody>
      </p:sp>
      <p:sp>
        <p:nvSpPr>
          <p:cNvPr id="5" name="Text 2"/>
          <p:cNvSpPr/>
          <p:nvPr/>
        </p:nvSpPr>
        <p:spPr>
          <a:xfrm>
            <a:off x="548640" y="6263640"/>
            <a:ext cx="11091672" cy="274320"/>
          </a:xfrm>
          <a:prstGeom prst="rect">
            <a:avLst/>
          </a:prstGeom>
          <a:noFill/>
          <a:ln/>
        </p:spPr>
        <p:txBody>
          <a:bodyPr wrap="square" lIns="0" tIns="0" rIns="0" bIns="0" rtlCol="0" anchor="ctr"/>
          <a:lstStyle/>
          <a:p>
            <a:pPr algn="r" indent="0" marL="0">
              <a:buNone/>
            </a:pPr>
            <a:r>
              <a:rPr lang="en-US" sz="1100" dirty="0">
                <a:solidFill>
                  <a:srgbClr val="64748B"/>
                </a:solidFill>
                <a:latin typeface="Segoe UI" pitchFamily="34" charset="0"/>
                <a:ea typeface="Segoe UI" pitchFamily="34" charset="-122"/>
                <a:cs typeface="Segoe UI" pitchFamily="34" charset="-120"/>
              </a:rPr>
              <a:t>Mensajes: create() · store(req) · validate · Proyecto::create(data) · redirect con success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DSD 2 · El Programador consulta tareas</a:t>
            </a:r>
            <a:endParaRPr lang="en-US" sz="2400" dirty="0"/>
          </a:p>
        </p:txBody>
      </p:sp>
      <p:pic>
        <p:nvPicPr>
          <p:cNvPr id="3" name="Image 0" descr="C:\laragon\www\sistema\docs\dsd\png-hd\02_programador_ve_tareas.png">    </p:cNvPr>
          <p:cNvPicPr>
            <a:picLocks noChangeAspect="1"/>
          </p:cNvPicPr>
          <p:nvPr/>
        </p:nvPicPr>
        <p:blipFill>
          <a:blip r:embed="rId1"/>
          <a:stretch>
            <a:fillRect/>
          </a:stretch>
        </p:blipFill>
        <p:spPr>
          <a:xfrm>
            <a:off x="4114739" y="777240"/>
            <a:ext cx="3959474" cy="3794760"/>
          </a:xfrm>
          <a:prstGeom prst="rect">
            <a:avLst/>
          </a:prstGeom>
        </p:spPr>
      </p:pic>
      <p:sp>
        <p:nvSpPr>
          <p:cNvPr id="4" name="Text 1"/>
          <p:cNvSpPr/>
          <p:nvPr/>
        </p:nvSpPr>
        <p:spPr>
          <a:xfrm>
            <a:off x="548640" y="4709160"/>
            <a:ext cx="11091672" cy="1417320"/>
          </a:xfrm>
          <a:prstGeom prst="rect">
            <a:avLst/>
          </a:prstGeom>
          <a:noFill/>
          <a:ln/>
        </p:spPr>
        <p:txBody>
          <a:bodyPr wrap="square" lIns="0" tIns="0" rIns="0" bIns="0" rtlCol="0" anchor="t"/>
          <a:lstStyle/>
          <a:p>
            <a:pPr algn="l" indent="0" marL="0">
              <a:lnSpc>
                <a:spcPct val="115000"/>
              </a:lnSpc>
              <a:buNone/>
            </a:pPr>
            <a:r>
              <a:rPr lang="en-US" sz="1350" b="1" dirty="0">
                <a:solidFill>
                  <a:srgbClr val="4F46E5"/>
                </a:solidFill>
                <a:latin typeface="Segoe UI" pitchFamily="34" charset="0"/>
                <a:ea typeface="Segoe UI" pitchFamily="34" charset="-122"/>
                <a:cs typeface="Segoe UI" pitchFamily="34" charset="-120"/>
              </a:rPr>
              <a:t>Qué representa: </a:t>
            </a:r>
            <a:pPr algn="l" indent="0" marL="0">
              <a:lnSpc>
                <a:spcPct val="115000"/>
              </a:lnSpc>
              <a:buNone/>
            </a:pPr>
            <a:r>
              <a:rPr lang="en-US" sz="1350" dirty="0">
                <a:solidFill>
                  <a:srgbClr val="1F2937"/>
                </a:solidFill>
                <a:latin typeface="Segoe UI" pitchFamily="34" charset="0"/>
                <a:ea typeface="Segoe UI" pitchFamily="34" charset="-122"/>
                <a:cs typeface="Segoe UI" pitchFamily="34" charset="-120"/>
              </a:rPr>
              <a:t>El Programador entra al listado de tareas. Primero el sistema determina qué puede ver: si el usuario tuviera rol Cliente, solo vería las tareas de su empresa (scope visiblePara). Luego aplica la búsqueda y el filtro de estado elegidos y devuelve las tareas paginadas de a 15, cada una con su proyecto y su responsable ya cargados. Al abrir el detalle de una tarea, el sistema la busca por su id (Route Model Binding), verifica que el usuario tenga permiso para verla —si no, responde 403—, carga el proyecto, el asignado y la solicitud de cambio asociada, y muestra la ficha completa.</a:t>
            </a:r>
            <a:endParaRPr lang="en-US" sz="1350" dirty="0"/>
          </a:p>
        </p:txBody>
      </p:sp>
      <p:sp>
        <p:nvSpPr>
          <p:cNvPr id="5" name="Text 2"/>
          <p:cNvSpPr/>
          <p:nvPr/>
        </p:nvSpPr>
        <p:spPr>
          <a:xfrm>
            <a:off x="548640" y="6263640"/>
            <a:ext cx="11091672" cy="274320"/>
          </a:xfrm>
          <a:prstGeom prst="rect">
            <a:avLst/>
          </a:prstGeom>
          <a:noFill/>
          <a:ln/>
        </p:spPr>
        <p:txBody>
          <a:bodyPr wrap="square" lIns="0" tIns="0" rIns="0" bIns="0" rtlCol="0" anchor="ctr"/>
          <a:lstStyle/>
          <a:p>
            <a:pPr algn="r" indent="0" marL="0">
              <a:buNone/>
            </a:pPr>
            <a:r>
              <a:rPr lang="en-US" sz="1100" dirty="0">
                <a:solidFill>
                  <a:srgbClr val="64748B"/>
                </a:solidFill>
                <a:latin typeface="Segoe UI" pitchFamily="34" charset="0"/>
                <a:ea typeface="Segoe UI" pitchFamily="34" charset="-122"/>
                <a:cs typeface="Segoe UI" pitchFamily="34" charset="-120"/>
              </a:rPr>
              <a:t>Mensajes: index() · visiblePara · when(q/estado) · paginate(15) · show(t) · puedeVer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DSD 3 · Edición de tarea desde el tablero</a:t>
            </a:r>
            <a:endParaRPr lang="en-US" sz="2400" dirty="0"/>
          </a:p>
        </p:txBody>
      </p:sp>
      <p:pic>
        <p:nvPicPr>
          <p:cNvPr id="3" name="Image 0" descr="C:\laragon\www\sistema\docs\dsd\png-hd\03_edita_tarea_tablero.png">    </p:cNvPr>
          <p:cNvPicPr>
            <a:picLocks noChangeAspect="1"/>
          </p:cNvPicPr>
          <p:nvPr/>
        </p:nvPicPr>
        <p:blipFill>
          <a:blip r:embed="rId1"/>
          <a:stretch>
            <a:fillRect/>
          </a:stretch>
        </p:blipFill>
        <p:spPr>
          <a:xfrm>
            <a:off x="3571977" y="777240"/>
            <a:ext cx="5044998" cy="3794760"/>
          </a:xfrm>
          <a:prstGeom prst="rect">
            <a:avLst/>
          </a:prstGeom>
        </p:spPr>
      </p:pic>
      <p:sp>
        <p:nvSpPr>
          <p:cNvPr id="4" name="Text 1"/>
          <p:cNvSpPr/>
          <p:nvPr/>
        </p:nvSpPr>
        <p:spPr>
          <a:xfrm>
            <a:off x="548640" y="4709160"/>
            <a:ext cx="11091672" cy="1417320"/>
          </a:xfrm>
          <a:prstGeom prst="rect">
            <a:avLst/>
          </a:prstGeom>
          <a:noFill/>
          <a:ln/>
        </p:spPr>
        <p:txBody>
          <a:bodyPr wrap="square" lIns="0" tIns="0" rIns="0" bIns="0" rtlCol="0" anchor="t"/>
          <a:lstStyle/>
          <a:p>
            <a:pPr algn="l" indent="0" marL="0">
              <a:lnSpc>
                <a:spcPct val="115000"/>
              </a:lnSpc>
              <a:buNone/>
            </a:pPr>
            <a:r>
              <a:rPr lang="en-US" sz="1350" b="1" dirty="0">
                <a:solidFill>
                  <a:srgbClr val="4F46E5"/>
                </a:solidFill>
                <a:latin typeface="Segoe UI" pitchFamily="34" charset="0"/>
                <a:ea typeface="Segoe UI" pitchFamily="34" charset="-122"/>
                <a:cs typeface="Segoe UI" pitchFamily="34" charset="-120"/>
              </a:rPr>
              <a:t>Qué representa: </a:t>
            </a:r>
            <a:pPr algn="l" indent="0" marL="0">
              <a:lnSpc>
                <a:spcPct val="115000"/>
              </a:lnSpc>
              <a:buNone/>
            </a:pPr>
            <a:r>
              <a:rPr lang="en-US" sz="1350" dirty="0">
                <a:solidFill>
                  <a:srgbClr val="1F2937"/>
                </a:solidFill>
                <a:latin typeface="Segoe UI" pitchFamily="34" charset="0"/>
                <a:ea typeface="Segoe UI" pitchFamily="34" charset="-122"/>
                <a:cs typeface="Segoe UI" pitchFamily="34" charset="-120"/>
              </a:rPr>
              <a:t>El PM abre una tarjeta del tablero: el modal «Editar tarea» se completa con los datos que la tarjeta guarda en su atributo data-tarea. Al cambiar el estado a «En progreso» y guardar, el navegador envía una petición PATCH con JSON al servidor, que valida los campos. Si la validación falla responde 422 con los errores; si es correcta, actualiza la tarea en la base de datos (update = fill + save) y responde 200 con la tarea ya actualizada y sus relaciones. El JavaScript entonces reemplaza la tarjeta y la mueve a su nueva columna sin recargar la página.</a:t>
            </a:r>
            <a:endParaRPr lang="en-US" sz="1350" dirty="0"/>
          </a:p>
        </p:txBody>
      </p:sp>
      <p:sp>
        <p:nvSpPr>
          <p:cNvPr id="5" name="Text 2"/>
          <p:cNvSpPr/>
          <p:nvPr/>
        </p:nvSpPr>
        <p:spPr>
          <a:xfrm>
            <a:off x="548640" y="6263640"/>
            <a:ext cx="11091672" cy="274320"/>
          </a:xfrm>
          <a:prstGeom prst="rect">
            <a:avLst/>
          </a:prstGeom>
          <a:noFill/>
          <a:ln/>
        </p:spPr>
        <p:txBody>
          <a:bodyPr wrap="square" lIns="0" tIns="0" rIns="0" bIns="0" rtlCol="0" anchor="ctr"/>
          <a:lstStyle/>
          <a:p>
            <a:pPr algn="r" indent="0" marL="0">
              <a:buNone/>
            </a:pPr>
            <a:r>
              <a:rPr lang="en-US" sz="1100" dirty="0">
                <a:solidFill>
                  <a:srgbClr val="64748B"/>
                </a:solidFill>
                <a:latin typeface="Segoe UI" pitchFamily="34" charset="0"/>
                <a:ea typeface="Segoe UI" pitchFamily="34" charset="-122"/>
                <a:cs typeface="Segoe UI" pitchFamily="34" charset="-120"/>
              </a:rPr>
              <a:t>Mensajes: update(req, t) · validate · update(data) · 422 con errores / 200 JSON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DSD 4 · El PM elimina una tarea</a:t>
            </a:r>
            <a:endParaRPr lang="en-US" sz="2400" dirty="0"/>
          </a:p>
        </p:txBody>
      </p:sp>
      <p:pic>
        <p:nvPicPr>
          <p:cNvPr id="3" name="Image 0" descr="C:\laragon\www\sistema\docs\dsd\png-hd\04_pm_elimina_tarea.png">    </p:cNvPr>
          <p:cNvPicPr>
            <a:picLocks noChangeAspect="1"/>
          </p:cNvPicPr>
          <p:nvPr/>
        </p:nvPicPr>
        <p:blipFill>
          <a:blip r:embed="rId1"/>
          <a:stretch>
            <a:fillRect/>
          </a:stretch>
        </p:blipFill>
        <p:spPr>
          <a:xfrm>
            <a:off x="2617040" y="777240"/>
            <a:ext cx="6954872" cy="3794760"/>
          </a:xfrm>
          <a:prstGeom prst="rect">
            <a:avLst/>
          </a:prstGeom>
        </p:spPr>
      </p:pic>
      <p:sp>
        <p:nvSpPr>
          <p:cNvPr id="4" name="Text 1"/>
          <p:cNvSpPr/>
          <p:nvPr/>
        </p:nvSpPr>
        <p:spPr>
          <a:xfrm>
            <a:off x="548640" y="4709160"/>
            <a:ext cx="11091672" cy="1417320"/>
          </a:xfrm>
          <a:prstGeom prst="rect">
            <a:avLst/>
          </a:prstGeom>
          <a:noFill/>
          <a:ln/>
        </p:spPr>
        <p:txBody>
          <a:bodyPr wrap="square" lIns="0" tIns="0" rIns="0" bIns="0" rtlCol="0" anchor="t"/>
          <a:lstStyle/>
          <a:p>
            <a:pPr algn="l" indent="0" marL="0">
              <a:lnSpc>
                <a:spcPct val="115000"/>
              </a:lnSpc>
              <a:buNone/>
            </a:pPr>
            <a:r>
              <a:rPr lang="en-US" sz="1350" b="1" dirty="0">
                <a:solidFill>
                  <a:srgbClr val="4F46E5"/>
                </a:solidFill>
                <a:latin typeface="Segoe UI" pitchFamily="34" charset="0"/>
                <a:ea typeface="Segoe UI" pitchFamily="34" charset="-122"/>
                <a:cs typeface="Segoe UI" pitchFamily="34" charset="-120"/>
              </a:rPr>
              <a:t>Qué representa: </a:t>
            </a:r>
            <a:pPr algn="l" indent="0" marL="0">
              <a:lnSpc>
                <a:spcPct val="115000"/>
              </a:lnSpc>
              <a:buNone/>
            </a:pPr>
            <a:r>
              <a:rPr lang="en-US" sz="1350" dirty="0">
                <a:solidFill>
                  <a:srgbClr val="1F2937"/>
                </a:solidFill>
                <a:latin typeface="Segoe UI" pitchFamily="34" charset="0"/>
                <a:ea typeface="Segoe UI" pitchFamily="34" charset="-122"/>
                <a:cs typeface="Segoe UI" pitchFamily="34" charset="-120"/>
              </a:rPr>
              <a:t>El PM pulsa «Eliminar» dentro del modal de la tarea y el sistema pide confirmación con un modal propio, no con el confirm() del navegador. Al confirmar, se envía DELETE /tareas/{id}: el sistema busca la tarea por su id y la borra de la base de datos con delete(). Responde 200 con {ok:true} y el JavaScript quita la tarjeta del tablero y actualiza los contadores de cada columna, sin recargar. Si la tarea no existiera, el Route Model Binding responde 404 antes de llegar al controller.</a:t>
            </a:r>
            <a:endParaRPr lang="en-US" sz="1350" dirty="0"/>
          </a:p>
        </p:txBody>
      </p:sp>
      <p:sp>
        <p:nvSpPr>
          <p:cNvPr id="5" name="Text 2"/>
          <p:cNvSpPr/>
          <p:nvPr/>
        </p:nvSpPr>
        <p:spPr>
          <a:xfrm>
            <a:off x="548640" y="6263640"/>
            <a:ext cx="11091672" cy="274320"/>
          </a:xfrm>
          <a:prstGeom prst="rect">
            <a:avLst/>
          </a:prstGeom>
          <a:noFill/>
          <a:ln/>
        </p:spPr>
        <p:txBody>
          <a:bodyPr wrap="square" lIns="0" tIns="0" rIns="0" bIns="0" rtlCol="0" anchor="ctr"/>
          <a:lstStyle/>
          <a:p>
            <a:pPr algn="r" indent="0" marL="0">
              <a:buNone/>
            </a:pPr>
            <a:r>
              <a:rPr lang="en-US" sz="1100" dirty="0">
                <a:solidFill>
                  <a:srgbClr val="64748B"/>
                </a:solidFill>
                <a:latin typeface="Segoe UI" pitchFamily="34" charset="0"/>
                <a:ea typeface="Segoe UI" pitchFamily="34" charset="-122"/>
                <a:cs typeface="Segoe UI" pitchFamily="34" charset="-120"/>
              </a:rPr>
              <a:t>Mensajes: destroy(req, t) · delete() : bool · 200 {ok:true} · 404 si no existe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DSD 5 · El Jefe aprueba una solicitud de cambio</a:t>
            </a:r>
            <a:endParaRPr lang="en-US" sz="2400" dirty="0"/>
          </a:p>
        </p:txBody>
      </p:sp>
      <p:pic>
        <p:nvPicPr>
          <p:cNvPr id="3" name="Image 0" descr="C:\laragon\www\sistema\docs\dsd\png-hd\05_jefe_aprueba_solicitud.png">    </p:cNvPr>
          <p:cNvPicPr>
            <a:picLocks noChangeAspect="1"/>
          </p:cNvPicPr>
          <p:nvPr/>
        </p:nvPicPr>
        <p:blipFill>
          <a:blip r:embed="rId1"/>
          <a:stretch>
            <a:fillRect/>
          </a:stretch>
        </p:blipFill>
        <p:spPr>
          <a:xfrm>
            <a:off x="3262626" y="777240"/>
            <a:ext cx="5663700" cy="3794760"/>
          </a:xfrm>
          <a:prstGeom prst="rect">
            <a:avLst/>
          </a:prstGeom>
        </p:spPr>
      </p:pic>
      <p:sp>
        <p:nvSpPr>
          <p:cNvPr id="4" name="Text 1"/>
          <p:cNvSpPr/>
          <p:nvPr/>
        </p:nvSpPr>
        <p:spPr>
          <a:xfrm>
            <a:off x="548640" y="4709160"/>
            <a:ext cx="11091672" cy="1417320"/>
          </a:xfrm>
          <a:prstGeom prst="rect">
            <a:avLst/>
          </a:prstGeom>
          <a:noFill/>
          <a:ln/>
        </p:spPr>
        <p:txBody>
          <a:bodyPr wrap="square" lIns="0" tIns="0" rIns="0" bIns="0" rtlCol="0" anchor="t"/>
          <a:lstStyle/>
          <a:p>
            <a:pPr algn="l" indent="0" marL="0">
              <a:lnSpc>
                <a:spcPct val="115000"/>
              </a:lnSpc>
              <a:buNone/>
            </a:pPr>
            <a:r>
              <a:rPr lang="en-US" sz="1350" b="1" dirty="0">
                <a:solidFill>
                  <a:srgbClr val="4F46E5"/>
                </a:solidFill>
                <a:latin typeface="Segoe UI" pitchFamily="34" charset="0"/>
                <a:ea typeface="Segoe UI" pitchFamily="34" charset="-122"/>
                <a:cs typeface="Segoe UI" pitchFamily="34" charset="-120"/>
              </a:rPr>
              <a:t>Qué representa: </a:t>
            </a:r>
            <a:pPr algn="l" indent="0" marL="0">
              <a:lnSpc>
                <a:spcPct val="115000"/>
              </a:lnSpc>
              <a:buNone/>
            </a:pPr>
            <a:r>
              <a:rPr lang="en-US" sz="1350" dirty="0">
                <a:solidFill>
                  <a:srgbClr val="1F2937"/>
                </a:solidFill>
                <a:latin typeface="Segoe UI" pitchFamily="34" charset="0"/>
                <a:ea typeface="Segoe UI" pitchFamily="34" charset="-122"/>
                <a:cs typeface="Segoe UI" pitchFamily="34" charset="-120"/>
              </a:rPr>
              <a:t>El Jefe abre el detalle de una solicitud de cambio, que muestra el proyecto afectado, quién la solicitó y su estado actual. Al editarla y fijar el estado en «aprobada», el controller valida los datos —el estado solo puede ser pendiente, aprobada o rechazada—, actualiza el registro en la base mediante fill(data) + save() y redirige al listado con el mensaje «Solicitud de cambio actualizada correctamente.»</a:t>
            </a:r>
            <a:endParaRPr lang="en-US" sz="1350" dirty="0"/>
          </a:p>
        </p:txBody>
      </p:sp>
      <p:sp>
        <p:nvSpPr>
          <p:cNvPr id="5" name="Text 2"/>
          <p:cNvSpPr/>
          <p:nvPr/>
        </p:nvSpPr>
        <p:spPr>
          <a:xfrm>
            <a:off x="548640" y="6263640"/>
            <a:ext cx="11091672" cy="274320"/>
          </a:xfrm>
          <a:prstGeom prst="rect">
            <a:avLst/>
          </a:prstGeom>
          <a:noFill/>
          <a:ln/>
        </p:spPr>
        <p:txBody>
          <a:bodyPr wrap="square" lIns="0" tIns="0" rIns="0" bIns="0" rtlCol="0" anchor="ctr"/>
          <a:lstStyle/>
          <a:p>
            <a:pPr algn="r" indent="0" marL="0">
              <a:buNone/>
            </a:pPr>
            <a:r>
              <a:rPr lang="en-US" sz="1100" dirty="0">
                <a:solidFill>
                  <a:srgbClr val="64748B"/>
                </a:solidFill>
                <a:latin typeface="Segoe UI" pitchFamily="34" charset="0"/>
                <a:ea typeface="Segoe UI" pitchFamily="34" charset="-122"/>
                <a:cs typeface="Segoe UI" pitchFamily="34" charset="-120"/>
              </a:rPr>
              <a:t>Mensajes: show(s) · update(req, s) · validate · update(data) · redirect con success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DSD 6 · El PO gestiona los entregables IA</a:t>
            </a:r>
            <a:endParaRPr lang="en-US" sz="2400" dirty="0"/>
          </a:p>
        </p:txBody>
      </p:sp>
      <p:pic>
        <p:nvPicPr>
          <p:cNvPr id="3" name="Image 0" descr="C:\laragon\www\sistema\docs\dsd\png-hd\06_po_gestiona_entregables.png">    </p:cNvPr>
          <p:cNvPicPr>
            <a:picLocks noChangeAspect="1"/>
          </p:cNvPicPr>
          <p:nvPr/>
        </p:nvPicPr>
        <p:blipFill>
          <a:blip r:embed="rId1"/>
          <a:stretch>
            <a:fillRect/>
          </a:stretch>
        </p:blipFill>
        <p:spPr>
          <a:xfrm>
            <a:off x="3724874" y="777240"/>
            <a:ext cx="4739203" cy="3794760"/>
          </a:xfrm>
          <a:prstGeom prst="rect">
            <a:avLst/>
          </a:prstGeom>
        </p:spPr>
      </p:pic>
      <p:sp>
        <p:nvSpPr>
          <p:cNvPr id="4" name="Text 1"/>
          <p:cNvSpPr/>
          <p:nvPr/>
        </p:nvSpPr>
        <p:spPr>
          <a:xfrm>
            <a:off x="548640" y="4709160"/>
            <a:ext cx="11091672" cy="1417320"/>
          </a:xfrm>
          <a:prstGeom prst="rect">
            <a:avLst/>
          </a:prstGeom>
          <a:noFill/>
          <a:ln/>
        </p:spPr>
        <p:txBody>
          <a:bodyPr wrap="square" lIns="0" tIns="0" rIns="0" bIns="0" rtlCol="0" anchor="t"/>
          <a:lstStyle/>
          <a:p>
            <a:pPr algn="l" indent="0" marL="0">
              <a:lnSpc>
                <a:spcPct val="115000"/>
              </a:lnSpc>
              <a:buNone/>
            </a:pPr>
            <a:r>
              <a:rPr lang="en-US" sz="1350" b="1" dirty="0">
                <a:solidFill>
                  <a:srgbClr val="4F46E5"/>
                </a:solidFill>
                <a:latin typeface="Segoe UI" pitchFamily="34" charset="0"/>
                <a:ea typeface="Segoe UI" pitchFamily="34" charset="-122"/>
                <a:cs typeface="Segoe UI" pitchFamily="34" charset="-120"/>
              </a:rPr>
              <a:t>Qué representa: </a:t>
            </a:r>
            <a:pPr algn="l" indent="0" marL="0">
              <a:lnSpc>
                <a:spcPct val="115000"/>
              </a:lnSpc>
              <a:buNone/>
            </a:pPr>
            <a:r>
              <a:rPr lang="en-US" sz="1350" dirty="0">
                <a:solidFill>
                  <a:srgbClr val="1F2937"/>
                </a:solidFill>
                <a:latin typeface="Segoe UI" pitchFamily="34" charset="0"/>
                <a:ea typeface="Segoe UI" pitchFamily="34" charset="-122"/>
                <a:cs typeface="Segoe UI" pitchFamily="34" charset="-120"/>
              </a:rPr>
              <a:t>El PO entra al listado de entregables IA, que muestra cada entregable con su proyecto, tipo, estado y quién lo generó (paginado de a 15). Al abrir uno, el sistema carga sus relaciones proyecto y generador. Al editarlo, el controller valida que el estado solo pueda tomar los valores borrador, revisado o aprobado —además del resto de los campos obligatorios—, actualiza el registro con update(data) y vuelve al listado con el mensaje de éxito.</a:t>
            </a:r>
            <a:endParaRPr lang="en-US" sz="1350" dirty="0"/>
          </a:p>
        </p:txBody>
      </p:sp>
      <p:sp>
        <p:nvSpPr>
          <p:cNvPr id="5" name="Text 2"/>
          <p:cNvSpPr/>
          <p:nvPr/>
        </p:nvSpPr>
        <p:spPr>
          <a:xfrm>
            <a:off x="548640" y="6263640"/>
            <a:ext cx="11091672" cy="274320"/>
          </a:xfrm>
          <a:prstGeom prst="rect">
            <a:avLst/>
          </a:prstGeom>
          <a:noFill/>
          <a:ln/>
        </p:spPr>
        <p:txBody>
          <a:bodyPr wrap="square" lIns="0" tIns="0" rIns="0" bIns="0" rtlCol="0" anchor="ctr"/>
          <a:lstStyle/>
          <a:p>
            <a:pPr algn="r" indent="0" marL="0">
              <a:buNone/>
            </a:pPr>
            <a:r>
              <a:rPr lang="en-US" sz="1100" dirty="0">
                <a:solidFill>
                  <a:srgbClr val="64748B"/>
                </a:solidFill>
                <a:latin typeface="Segoe UI" pitchFamily="34" charset="0"/>
                <a:ea typeface="Segoe UI" pitchFamily="34" charset="-122"/>
                <a:cs typeface="Segoe UI" pitchFamily="34" charset="-120"/>
              </a:rPr>
              <a:t>Mensajes: index() · show(e) · update(req, e) · validate · update(data) · redirect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0" y="2743200"/>
            <a:ext cx="12188952" cy="822960"/>
          </a:xfrm>
          <a:prstGeom prst="rect">
            <a:avLst/>
          </a:prstGeom>
          <a:noFill/>
          <a:ln/>
        </p:spPr>
        <p:txBody>
          <a:bodyPr wrap="square" rtlCol="0" anchor="ctr"/>
          <a:lstStyle/>
          <a:p>
            <a:pPr algn="ctr" indent="0" marL="0">
              <a:buNone/>
            </a:pPr>
            <a:r>
              <a:rPr lang="en-US" sz="4400" b="1" dirty="0">
                <a:solidFill>
                  <a:srgbClr val="FFFFFF"/>
                </a:solidFill>
                <a:latin typeface="Segoe UI" pitchFamily="34" charset="0"/>
                <a:ea typeface="Segoe UI" pitchFamily="34" charset="-122"/>
                <a:cs typeface="Segoe UI" pitchFamily="34" charset="-120"/>
              </a:rPr>
              <a:t>Casos de uso reales</a:t>
            </a:r>
            <a:endParaRPr lang="en-US" sz="4400" dirty="0"/>
          </a:p>
        </p:txBody>
      </p:sp>
      <p:sp>
        <p:nvSpPr>
          <p:cNvPr id="3" name="Text 1"/>
          <p:cNvSpPr/>
          <p:nvPr/>
        </p:nvSpPr>
        <p:spPr>
          <a:xfrm>
            <a:off x="0" y="3566160"/>
            <a:ext cx="12188952" cy="457200"/>
          </a:xfrm>
          <a:prstGeom prst="rect">
            <a:avLst/>
          </a:prstGeom>
          <a:noFill/>
          <a:ln/>
        </p:spPr>
        <p:txBody>
          <a:bodyPr wrap="square" rtlCol="0" anchor="ctr"/>
          <a:lstStyle/>
          <a:p>
            <a:pPr algn="ctr" indent="0" marL="0">
              <a:buNone/>
            </a:pPr>
            <a:r>
              <a:rPr lang="en-US" sz="1800" dirty="0">
                <a:solidFill>
                  <a:srgbClr val="00B87D"/>
                </a:solidFill>
                <a:latin typeface="Segoe UI" pitchFamily="34" charset="0"/>
                <a:ea typeface="Segoe UI" pitchFamily="34" charset="-122"/>
                <a:cs typeface="Segoe UI" pitchFamily="34" charset="-120"/>
              </a:rPr>
              <a:t>Los mismos CU ejecutados en la web real: una lámina por paso</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1 · El PM crea un proyecto  ·  paso 1 de 4</a:t>
            </a:r>
            <a:endParaRPr lang="en-US" sz="2400" dirty="0"/>
          </a:p>
        </p:txBody>
      </p:sp>
      <p:pic>
        <p:nvPicPr>
          <p:cNvPr id="3" name="Image 0" descr="C:\laragon\www\sistema\docs\cu-reales\capturas\cu1_paso1_listado.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1. </a:t>
            </a:r>
            <a:pPr algn="l" indent="0" marL="0">
              <a:buNone/>
            </a:pPr>
            <a:r>
              <a:rPr lang="en-US" sz="1300" dirty="0">
                <a:solidFill>
                  <a:srgbClr val="1F2937"/>
                </a:solidFill>
                <a:latin typeface="Segoe UI" pitchFamily="34" charset="0"/>
                <a:ea typeface="Segoe UI" pitchFamily="34" charset="-122"/>
                <a:cs typeface="Segoe UI" pitchFamily="34" charset="-120"/>
              </a:rPr>
              <a:t>Presiona «+ Nuevo Proyecto» en el listado; el controller ejecuta create() y carga la lista de clientes y usuarios para los desplegables.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1 · El PM crea un proyecto  ·  paso 2 de 4</a:t>
            </a:r>
            <a:endParaRPr lang="en-US" sz="2400" dirty="0"/>
          </a:p>
        </p:txBody>
      </p:sp>
      <p:pic>
        <p:nvPicPr>
          <p:cNvPr id="3" name="Image 0" descr="C:\laragon\www\sistema\docs\cu-reales\capturas\cu1_paso2_modal.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2. </a:t>
            </a:r>
            <a:pPr algn="l" indent="0" marL="0">
              <a:buNone/>
            </a:pPr>
            <a:r>
              <a:rPr lang="en-US" sz="1300" dirty="0">
                <a:solidFill>
                  <a:srgbClr val="1F2937"/>
                </a:solidFill>
                <a:latin typeface="Segoe UI" pitchFamily="34" charset="0"/>
                <a:ea typeface="Segoe UI" pitchFamily="34" charset="-122"/>
                <a:cs typeface="Segoe UI" pitchFamily="34" charset="-120"/>
              </a:rPr>
              <a:t>Observa el modal de creación «Nuevo Proyecto», que reemplaza a la página de formulario aparte.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1 · El PM crea un proyecto  ·  paso 3 de 4</a:t>
            </a:r>
            <a:endParaRPr lang="en-US" sz="2400" dirty="0"/>
          </a:p>
        </p:txBody>
      </p:sp>
      <p:pic>
        <p:nvPicPr>
          <p:cNvPr id="3" name="Image 0" descr="C:\laragon\www\sistema\docs\cu-reales\capturas\cu1_paso3_completo.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3. </a:t>
            </a:r>
            <a:pPr algn="l" indent="0" marL="0">
              <a:buNone/>
            </a:pPr>
            <a:r>
              <a:rPr lang="en-US" sz="1300" dirty="0">
                <a:solidFill>
                  <a:srgbClr val="1F2937"/>
                </a:solidFill>
                <a:latin typeface="Segoe UI" pitchFamily="34" charset="0"/>
                <a:ea typeface="Segoe UI" pitchFamily="34" charset="-122"/>
                <a:cs typeface="Segoe UI" pitchFamily="34" charset="-120"/>
              </a:rPr>
              <a:t>Completa nombre, descripción, fechas, cliente y Project Manager, y envía el formulario; store(req) valida el array de datos.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1 · El PM crea un proyecto  ·  paso 4 de 4</a:t>
            </a:r>
            <a:endParaRPr lang="en-US" sz="2400" dirty="0"/>
          </a:p>
        </p:txBody>
      </p:sp>
      <p:pic>
        <p:nvPicPr>
          <p:cNvPr id="3" name="Image 0" descr="C:\laragon\www\sistema\docs\cu-reales\capturas\cu1_paso4_guardado.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4. </a:t>
            </a:r>
            <a:pPr algn="l" indent="0" marL="0">
              <a:buNone/>
            </a:pPr>
            <a:r>
              <a:rPr lang="en-US" sz="1300" dirty="0">
                <a:solidFill>
                  <a:srgbClr val="1F2937"/>
                </a:solidFill>
                <a:latin typeface="Segoe UI" pitchFamily="34" charset="0"/>
                <a:ea typeface="Segoe UI" pitchFamily="34" charset="-122"/>
                <a:cs typeface="Segoe UI" pitchFamily="34" charset="-120"/>
              </a:rPr>
              <a:t>Ve el mensaje «Proyecto creado correctamente.»: la validación pasó, Proyecto::create(data) guardó el registro y redirigió al listado.</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2 · El Programador consulta las tareas  ·  paso 1 de 3</a:t>
            </a:r>
            <a:endParaRPr lang="en-US" sz="2400" dirty="0"/>
          </a:p>
        </p:txBody>
      </p:sp>
      <p:pic>
        <p:nvPicPr>
          <p:cNvPr id="3" name="Image 0" descr="C:\laragon\www\sistema\docs\cu-reales\capturas\cu2_paso1_listado.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5. </a:t>
            </a:r>
            <a:pPr algn="l" indent="0" marL="0">
              <a:buNone/>
            </a:pPr>
            <a:r>
              <a:rPr lang="en-US" sz="1300" dirty="0">
                <a:solidFill>
                  <a:srgbClr val="1F2937"/>
                </a:solidFill>
                <a:latin typeface="Segoe UI" pitchFamily="34" charset="0"/>
                <a:ea typeface="Segoe UI" pitchFamily="34" charset="-122"/>
                <a:cs typeface="Segoe UI" pitchFamily="34" charset="-120"/>
              </a:rPr>
              <a:t>Abre el listado de tareas: index() trae las tareas con sus relaciones proyecto y asignado; el Programador solo tiene acción de lectura.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2 · El Programador consulta las tareas  ·  paso 2 de 3</a:t>
            </a:r>
            <a:endParaRPr lang="en-US" sz="2400" dirty="0"/>
          </a:p>
        </p:txBody>
      </p:sp>
      <p:pic>
        <p:nvPicPr>
          <p:cNvPr id="3" name="Image 0" descr="C:\laragon\www\sistema\docs\cu-reales\capturas\cu2_paso2_filtro.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6. </a:t>
            </a:r>
            <a:pPr algn="l" indent="0" marL="0">
              <a:buNone/>
            </a:pPr>
            <a:r>
              <a:rPr lang="en-US" sz="1300" dirty="0">
                <a:solidFill>
                  <a:srgbClr val="1F2937"/>
                </a:solidFill>
                <a:latin typeface="Segoe UI" pitchFamily="34" charset="0"/>
                <a:ea typeface="Segoe UI" pitchFamily="34" charset="-122"/>
                <a:cs typeface="Segoe UI" pitchFamily="34" charset="-120"/>
              </a:rPr>
              <a:t>Aplica el filtro de estado «Pendiente»: la consulta when(estado) actúa sobre el scope visiblePara, con paginación de 15.</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2 · El Programador consulta las tareas  ·  paso 3 de 3</a:t>
            </a:r>
            <a:endParaRPr lang="en-US" sz="2400" dirty="0"/>
          </a:p>
        </p:txBody>
      </p:sp>
      <p:pic>
        <p:nvPicPr>
          <p:cNvPr id="3" name="Image 0" descr="C:\laragon\www\sistema\docs\cu-reales\capturas\cu2_paso3_detalle.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7. </a:t>
            </a:r>
            <a:pPr algn="l" indent="0" marL="0">
              <a:buNone/>
            </a:pPr>
            <a:r>
              <a:rPr lang="en-US" sz="1300" dirty="0">
                <a:solidFill>
                  <a:srgbClr val="1F2937"/>
                </a:solidFill>
                <a:latin typeface="Segoe UI" pitchFamily="34" charset="0"/>
                <a:ea typeface="Segoe UI" pitchFamily="34" charset="-122"/>
                <a:cs typeface="Segoe UI" pitchFamily="34" charset="-120"/>
              </a:rPr>
              <a:t>Abre el detalle con show(t): Route Model Binding y carga de proyecto, asignado y solicitud de cambio.</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3 · Edición de tarea desde el tablero  ·  paso 1 de 3</a:t>
            </a:r>
            <a:endParaRPr lang="en-US" sz="2400" dirty="0"/>
          </a:p>
        </p:txBody>
      </p:sp>
      <p:pic>
        <p:nvPicPr>
          <p:cNvPr id="3" name="Image 0" descr="C:\laragon\www\sistema\docs\cu-reales\capturas\cu3_paso1_modal.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8. </a:t>
            </a:r>
            <a:pPr algn="l" indent="0" marL="0">
              <a:buNone/>
            </a:pPr>
            <a:r>
              <a:rPr lang="en-US" sz="1300" dirty="0">
                <a:solidFill>
                  <a:srgbClr val="1F2937"/>
                </a:solidFill>
                <a:latin typeface="Segoe UI" pitchFamily="34" charset="0"/>
                <a:ea typeface="Segoe UI" pitchFamily="34" charset="-122"/>
                <a:cs typeface="Segoe UI" pitchFamily="34" charset="-120"/>
              </a:rPr>
              <a:t>Abre la tarjeta de la tarea en el tablero; el modal «Editar tarea» toma los datos del atributo data-tarea (JSON).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3 · Edición de tarea desde el tablero  ·  paso 2 de 3</a:t>
            </a:r>
            <a:endParaRPr lang="en-US" sz="2400" dirty="0"/>
          </a:p>
        </p:txBody>
      </p:sp>
      <p:pic>
        <p:nvPicPr>
          <p:cNvPr id="3" name="Image 0" descr="C:\laragon\www\sistema\docs\cu-reales\capturas\cu3_paso2_estado.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9. </a:t>
            </a:r>
            <a:pPr algn="l" indent="0" marL="0">
              <a:buNone/>
            </a:pPr>
            <a:r>
              <a:rPr lang="en-US" sz="1300" dirty="0">
                <a:solidFill>
                  <a:srgbClr val="1F2937"/>
                </a:solidFill>
                <a:latin typeface="Segoe UI" pitchFamily="34" charset="0"/>
                <a:ea typeface="Segoe UI" pitchFamily="34" charset="-122"/>
                <a:cs typeface="Segoe UI" pitchFamily="34" charset="-120"/>
              </a:rPr>
              <a:t>Cambia el estado a «En progreso» y envía PATCH /tareas/{id} con JSON (Accept: application/json).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3 · Edición de tarea desde el tablero  ·  paso 3 de 3</a:t>
            </a:r>
            <a:endParaRPr lang="en-US" sz="2400" dirty="0"/>
          </a:p>
        </p:txBody>
      </p:sp>
      <p:pic>
        <p:nvPicPr>
          <p:cNvPr id="3" name="Image 0" descr="C:\laragon\www\sistema\docs\cu-reales\capturas\cu3_paso3_movida.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10. </a:t>
            </a:r>
            <a:pPr algn="l" indent="0" marL="0">
              <a:buNone/>
            </a:pPr>
            <a:r>
              <a:rPr lang="en-US" sz="1300" dirty="0">
                <a:solidFill>
                  <a:srgbClr val="1F2937"/>
                </a:solidFill>
                <a:latin typeface="Segoe UI" pitchFamily="34" charset="0"/>
                <a:ea typeface="Segoe UI" pitchFamily="34" charset="-122"/>
                <a:cs typeface="Segoe UI" pitchFamily="34" charset="-120"/>
              </a:rPr>
              <a:t>Recibe la respuesta 200 con la tarea y sus relaciones: el JS la mueve a la columna En progreso sin recargar la página.</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4 · El PM elimina una tarea  ·  paso 1 de 4</a:t>
            </a:r>
            <a:endParaRPr lang="en-US" sz="2400" dirty="0"/>
          </a:p>
        </p:txBody>
      </p:sp>
      <p:pic>
        <p:nvPicPr>
          <p:cNvPr id="3" name="Image 0" descr="C:\laragon\www\sistema\docs\cu-reales\capturas\cu4_paso1_tablero.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11. </a:t>
            </a:r>
            <a:pPr algn="l" indent="0" marL="0">
              <a:buNone/>
            </a:pPr>
            <a:r>
              <a:rPr lang="en-US" sz="1300" dirty="0">
                <a:solidFill>
                  <a:srgbClr val="1F2937"/>
                </a:solidFill>
                <a:latin typeface="Segoe UI" pitchFamily="34" charset="0"/>
                <a:ea typeface="Segoe UI" pitchFamily="34" charset="-122"/>
                <a:cs typeface="Segoe UI" pitchFamily="34" charset="-120"/>
              </a:rPr>
              <a:t>Abre la tarjeta a eliminar en el tablero de tareas.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4 · El PM elimina una tarea  ·  paso 2 de 4</a:t>
            </a:r>
            <a:endParaRPr lang="en-US" sz="2400" dirty="0"/>
          </a:p>
        </p:txBody>
      </p:sp>
      <p:pic>
        <p:nvPicPr>
          <p:cNvPr id="3" name="Image 0" descr="C:\laragon\www\sistema\docs\cu-reales\capturas\cu4_paso2_modal.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12. </a:t>
            </a:r>
            <a:pPr algn="l" indent="0" marL="0">
              <a:buNone/>
            </a:pPr>
            <a:r>
              <a:rPr lang="en-US" sz="1300" dirty="0">
                <a:solidFill>
                  <a:srgbClr val="1F2937"/>
                </a:solidFill>
                <a:latin typeface="Segoe UI" pitchFamily="34" charset="0"/>
                <a:ea typeface="Segoe UI" pitchFamily="34" charset="-122"/>
                <a:cs typeface="Segoe UI" pitchFamily="34" charset="-120"/>
              </a:rPr>
              <a:t>Pulsa «Eliminar» dentro del modal de edición: dispara DELETE /tareas/{id} por AJAX.</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4 · El PM elimina una tarea  ·  paso 3 de 4</a:t>
            </a:r>
            <a:endParaRPr lang="en-US" sz="2400" dirty="0"/>
          </a:p>
        </p:txBody>
      </p:sp>
      <p:pic>
        <p:nvPicPr>
          <p:cNvPr id="3" name="Image 0" descr="C:\laragon\www\sistema\docs\cu-reales\capturas\cu4_paso3_confirmar.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13. </a:t>
            </a:r>
            <a:pPr algn="l" indent="0" marL="0">
              <a:buNone/>
            </a:pPr>
            <a:r>
              <a:rPr lang="en-US" sz="1300" dirty="0">
                <a:solidFill>
                  <a:srgbClr val="1F2937"/>
                </a:solidFill>
                <a:latin typeface="Segoe UI" pitchFamily="34" charset="0"/>
                <a:ea typeface="Segoe UI" pitchFamily="34" charset="-122"/>
                <a:cs typeface="Segoe UI" pitchFamily="34" charset="-120"/>
              </a:rPr>
              <a:t>Confirma en el modal propio del sistema, no en el confirm() nativo del navegador.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4 · El PM elimina una tarea  ·  paso 4 de 4</a:t>
            </a:r>
            <a:endParaRPr lang="en-US" sz="2400" dirty="0"/>
          </a:p>
        </p:txBody>
      </p:sp>
      <p:pic>
        <p:nvPicPr>
          <p:cNvPr id="3" name="Image 0" descr="C:\laragon\www\sistema\docs\cu-reales\capturas\cu4_paso4_eliminada.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14. </a:t>
            </a:r>
            <a:pPr algn="l" indent="0" marL="0">
              <a:buNone/>
            </a:pPr>
            <a:r>
              <a:rPr lang="en-US" sz="1300" dirty="0">
                <a:solidFill>
                  <a:srgbClr val="1F2937"/>
                </a:solidFill>
                <a:latin typeface="Segoe UI" pitchFamily="34" charset="0"/>
                <a:ea typeface="Segoe UI" pitchFamily="34" charset="-122"/>
                <a:cs typeface="Segoe UI" pitchFamily="34" charset="-120"/>
              </a:rPr>
              <a:t>Ve la respuesta 200 {ok:true}: la tarjeta desaparece del tablero y el contador baja sin recargar.</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5 · El Jefe aprueba una solicitud de cambio  ·  paso 1 de 3</a:t>
            </a:r>
            <a:endParaRPr lang="en-US" sz="2400" dirty="0"/>
          </a:p>
        </p:txBody>
      </p:sp>
      <p:pic>
        <p:nvPicPr>
          <p:cNvPr id="3" name="Image 0" descr="C:\laragon\www\sistema\docs\cu-reales\capturas\cu5_paso1_listado.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15. </a:t>
            </a:r>
            <a:pPr algn="l" indent="0" marL="0">
              <a:buNone/>
            </a:pPr>
            <a:r>
              <a:rPr lang="en-US" sz="1300" dirty="0">
                <a:solidFill>
                  <a:srgbClr val="1F2937"/>
                </a:solidFill>
                <a:latin typeface="Segoe UI" pitchFamily="34" charset="0"/>
                <a:ea typeface="Segoe UI" pitchFamily="34" charset="-122"/>
                <a:cs typeface="Segoe UI" pitchFamily="34" charset="-120"/>
              </a:rPr>
              <a:t>Revisa el listado de solicitudes de cambio con su proyecto, solicitante, estado y prioridad.</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5 · El Jefe aprueba una solicitud de cambio  ·  paso 2 de 3</a:t>
            </a:r>
            <a:endParaRPr lang="en-US" sz="2400" dirty="0"/>
          </a:p>
        </p:txBody>
      </p:sp>
      <p:pic>
        <p:nvPicPr>
          <p:cNvPr id="3" name="Image 0" descr="C:\laragon\www\sistema\docs\cu-reales\capturas\cu5_paso2_aprobada.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16. </a:t>
            </a:r>
            <a:pPr algn="l" indent="0" marL="0">
              <a:buNone/>
            </a:pPr>
            <a:r>
              <a:rPr lang="en-US" sz="1300" dirty="0">
                <a:solidFill>
                  <a:srgbClr val="1F2937"/>
                </a:solidFill>
                <a:latin typeface="Segoe UI" pitchFamily="34" charset="0"/>
                <a:ea typeface="Segoe UI" pitchFamily="34" charset="-122"/>
                <a:cs typeface="Segoe UI" pitchFamily="34" charset="-120"/>
              </a:rPr>
              <a:t>Abre la edición en el modal y fija estado = «aprobada» (enum: pendiente | aprobada | rechazada).</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5 · El Jefe aprueba una solicitud de cambio  ·  paso 3 de 3</a:t>
            </a:r>
            <a:endParaRPr lang="en-US" sz="2400" dirty="0"/>
          </a:p>
        </p:txBody>
      </p:sp>
      <p:pic>
        <p:nvPicPr>
          <p:cNvPr id="3" name="Image 0" descr="C:\laragon\www\sistema\docs\cu-reales\capturas\cu5_paso3_guardada.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17. </a:t>
            </a:r>
            <a:pPr algn="l" indent="0" marL="0">
              <a:buNone/>
            </a:pPr>
            <a:r>
              <a:rPr lang="en-US" sz="1300" dirty="0">
                <a:solidFill>
                  <a:srgbClr val="1F2937"/>
                </a:solidFill>
                <a:latin typeface="Segoe UI" pitchFamily="34" charset="0"/>
                <a:ea typeface="Segoe UI" pitchFamily="34" charset="-122"/>
                <a:cs typeface="Segoe UI" pitchFamily="34" charset="-120"/>
              </a:rPr>
              <a:t>Guarda: update(req, s) con fill(data) + save() redirige al listado con mensaje de éxito y la fila pasa a Aprobada.</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6 · El PO gestiona los entregables IA  ·  paso 1 de 3</a:t>
            </a:r>
            <a:endParaRPr lang="en-US" sz="2400" dirty="0"/>
          </a:p>
        </p:txBody>
      </p:sp>
      <p:pic>
        <p:nvPicPr>
          <p:cNvPr id="3" name="Image 0" descr="C:\laragon\www\sistema\docs\cu-reales\capturas\cu6_paso1_listado.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18. </a:t>
            </a:r>
            <a:pPr algn="l" indent="0" marL="0">
              <a:buNone/>
            </a:pPr>
            <a:r>
              <a:rPr lang="en-US" sz="1300" dirty="0">
                <a:solidFill>
                  <a:srgbClr val="1F2937"/>
                </a:solidFill>
                <a:latin typeface="Segoe UI" pitchFamily="34" charset="0"/>
                <a:ea typeface="Segoe UI" pitchFamily="34" charset="-122"/>
                <a:cs typeface="Segoe UI" pitchFamily="34" charset="-120"/>
              </a:rPr>
              <a:t>Abre el listado de entregables IA con su proyecto, tipo, estado y generador.</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6 · El PO gestiona los entregables IA  ·  paso 2 de 3</a:t>
            </a:r>
            <a:endParaRPr lang="en-US" sz="2400" dirty="0"/>
          </a:p>
        </p:txBody>
      </p:sp>
      <p:pic>
        <p:nvPicPr>
          <p:cNvPr id="3" name="Image 0" descr="C:\laragon\www\sistema\docs\cu-reales\capturas\cu6_paso2_aprobado.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19. </a:t>
            </a:r>
            <a:pPr algn="l" indent="0" marL="0">
              <a:buNone/>
            </a:pPr>
            <a:r>
              <a:rPr lang="en-US" sz="1300" dirty="0">
                <a:solidFill>
                  <a:srgbClr val="1F2937"/>
                </a:solidFill>
                <a:latin typeface="Segoe UI" pitchFamily="34" charset="0"/>
                <a:ea typeface="Segoe UI" pitchFamily="34" charset="-122"/>
                <a:cs typeface="Segoe UI" pitchFamily="34" charset="-120"/>
              </a:rPr>
              <a:t>Abre el modal de edición; el estado solo admite borrador, revisado o aprobado; fija «Aprobado».</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11274552" cy="457200"/>
          </a:xfrm>
          <a:prstGeom prst="rect">
            <a:avLst/>
          </a:prstGeom>
          <a:noFill/>
          <a:ln/>
        </p:spPr>
        <p:txBody>
          <a:bodyPr wrap="square" lIns="0" tIns="0" rIns="0" bIns="0" rtlCol="0" anchor="ctr"/>
          <a:lstStyle/>
          <a:p>
            <a:pPr indent="0" marL="0">
              <a:buNone/>
            </a:pPr>
            <a:r>
              <a:rPr lang="en-US" sz="2400" b="1" dirty="0">
                <a:solidFill>
                  <a:srgbClr val="1F2937"/>
                </a:solidFill>
                <a:latin typeface="Segoe UI" pitchFamily="34" charset="0"/>
                <a:ea typeface="Segoe UI" pitchFamily="34" charset="-122"/>
                <a:cs typeface="Segoe UI" pitchFamily="34" charset="-120"/>
              </a:rPr>
              <a:t>CU Real 6 · El PO gestiona los entregables IA  ·  paso 3 de 3</a:t>
            </a:r>
            <a:endParaRPr lang="en-US" sz="2400" dirty="0"/>
          </a:p>
        </p:txBody>
      </p:sp>
      <p:pic>
        <p:nvPicPr>
          <p:cNvPr id="3" name="Image 0" descr="C:\laragon\www\sistema\docs\cu-reales\capturas\cu6_paso3_guardado.png">    </p:cNvPr>
          <p:cNvPicPr>
            <a:picLocks noChangeAspect="1"/>
          </p:cNvPicPr>
          <p:nvPr/>
        </p:nvPicPr>
        <p:blipFill>
          <a:blip r:embed="rId1"/>
          <a:stretch>
            <a:fillRect/>
          </a:stretch>
        </p:blipFill>
        <p:spPr>
          <a:xfrm>
            <a:off x="2778252" y="1051560"/>
            <a:ext cx="6632448" cy="4663440"/>
          </a:xfrm>
          <a:prstGeom prst="rect">
            <a:avLst/>
          </a:prstGeom>
        </p:spPr>
      </p:pic>
      <p:sp>
        <p:nvSpPr>
          <p:cNvPr id="4" name="Text 1"/>
          <p:cNvSpPr/>
          <p:nvPr/>
        </p:nvSpPr>
        <p:spPr>
          <a:xfrm>
            <a:off x="640080" y="5897880"/>
            <a:ext cx="10908792" cy="731520"/>
          </a:xfrm>
          <a:prstGeom prst="rect">
            <a:avLst/>
          </a:prstGeom>
          <a:noFill/>
          <a:ln/>
        </p:spPr>
        <p:txBody>
          <a:bodyPr wrap="square" lIns="0" tIns="0" rIns="0" bIns="0" rtlCol="0" anchor="t"/>
          <a:lstStyle/>
          <a:p>
            <a:pPr algn="l" indent="0" marL="0">
              <a:buNone/>
            </a:pPr>
            <a:r>
              <a:rPr lang="en-US" sz="1300" b="1" dirty="0">
                <a:solidFill>
                  <a:srgbClr val="4F46E5"/>
                </a:solidFill>
                <a:latin typeface="Segoe UI" pitchFamily="34" charset="0"/>
                <a:ea typeface="Segoe UI" pitchFamily="34" charset="-122"/>
                <a:cs typeface="Segoe UI" pitchFamily="34" charset="-120"/>
              </a:rPr>
              <a:t>Figura 20. </a:t>
            </a:r>
            <a:pPr algn="l" indent="0" marL="0">
              <a:buNone/>
            </a:pPr>
            <a:r>
              <a:rPr lang="en-US" sz="1300" dirty="0">
                <a:solidFill>
                  <a:srgbClr val="1F2937"/>
                </a:solidFill>
                <a:latin typeface="Segoe UI" pitchFamily="34" charset="0"/>
                <a:ea typeface="Segoe UI" pitchFamily="34" charset="-122"/>
                <a:cs typeface="Segoe UI" pitchFamily="34" charset="-120"/>
              </a:rPr>
              <a:t>Guarda: el listado muestra «Borrador de manual de usuario» como Aprobado.</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0" y="2743200"/>
            <a:ext cx="12188952" cy="822960"/>
          </a:xfrm>
          <a:prstGeom prst="rect">
            <a:avLst/>
          </a:prstGeom>
          <a:noFill/>
          <a:ln/>
        </p:spPr>
        <p:txBody>
          <a:bodyPr wrap="square" rtlCol="0" anchor="ctr"/>
          <a:lstStyle/>
          <a:p>
            <a:pPr algn="ctr" indent="0" marL="0">
              <a:buNone/>
            </a:pPr>
            <a:r>
              <a:rPr lang="en-US" sz="4800" b="1" dirty="0">
                <a:solidFill>
                  <a:srgbClr val="FFFFFF"/>
                </a:solidFill>
                <a:latin typeface="Segoe UI" pitchFamily="34" charset="0"/>
                <a:ea typeface="Segoe UI" pitchFamily="34" charset="-122"/>
                <a:cs typeface="Segoe UI" pitchFamily="34" charset="-120"/>
              </a:rPr>
              <a:t>Gracias</a:t>
            </a:r>
            <a:endParaRPr lang="en-US" sz="4800" dirty="0"/>
          </a:p>
        </p:txBody>
      </p:sp>
      <p:sp>
        <p:nvSpPr>
          <p:cNvPr id="3" name="Text 1"/>
          <p:cNvSpPr/>
          <p:nvPr/>
        </p:nvSpPr>
        <p:spPr>
          <a:xfrm>
            <a:off x="0" y="3657600"/>
            <a:ext cx="12188952" cy="457200"/>
          </a:xfrm>
          <a:prstGeom prst="rect">
            <a:avLst/>
          </a:prstGeom>
          <a:noFill/>
          <a:ln/>
        </p:spPr>
        <p:txBody>
          <a:bodyPr wrap="square" rtlCol="0" anchor="ctr"/>
          <a:lstStyle/>
          <a:p>
            <a:pPr algn="ctr" indent="0" marL="0">
              <a:buNone/>
            </a:pPr>
            <a:r>
              <a:rPr lang="en-US" sz="1500" dirty="0">
                <a:solidFill>
                  <a:srgbClr val="94A3B8"/>
                </a:solidFill>
                <a:latin typeface="Segoe UI" pitchFamily="34" charset="0"/>
                <a:ea typeface="Segoe UI" pitchFamily="34" charset="-122"/>
                <a:cs typeface="Segoe UI" pitchFamily="34" charset="-120"/>
              </a:rPr>
              <a:t>github.com/DanielOjeda25/sistema · localhost:8000</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CRUZNEGRA — DSD y Casos de Uso Reales</dc:title>
  <dc:subject>PptxGenJS Presentation</dc:subject>
  <dc:creator>Equipo CRUZNEGRA</dc:creator>
  <cp:lastModifiedBy>Equipo CRUZNEGRA</cp:lastModifiedBy>
  <cp:revision>1</cp:revision>
  <dcterms:created xsi:type="dcterms:W3CDTF">2026-09-14T22:55:16Z</dcterms:created>
  <dcterms:modified xsi:type="dcterms:W3CDTF">2026-09-14T22:55:16Z</dcterms:modified>
</cp:coreProperties>
</file>